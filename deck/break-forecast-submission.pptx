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Times New Roman Bold" charset="1" panose="02020803070505020304"/>
      <p:regular r:id="rId12"/>
    </p:embeddedFont>
    <p:embeddedFont>
      <p:font typeface="JetBrains Mono Bold" charset="1" panose="02010809030102050004"/>
      <p:regular r:id="rId13"/>
    </p:embeddedFont>
    <p:embeddedFont>
      <p:font typeface="Times New Roman" charset="1" panose="020206030504050203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Track 2. One sentence on the problem: dependency rot is found only when things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ten stages left to right. Point at the colours: blue = observed, green = executed, purple =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original algorithms: era reconstruction, resolver co-upgrades, the evidence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the risks, especially the hosted model's overloads and how the fallback chain handles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measured numbers: they all come from the capsule of the LinkWatch run shown in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gap versus Dependabot/Renovate/deptry, then switch 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hyperlink" Target="https://agentskills.io/specification" TargetMode="External"/><Relationship Id="rId8" Type="http://schemas.openxmlformats.org/officeDocument/2006/relationships/hyperlink" Target="https://ai.google.dev/gemma/docs/core/gemma_on_gemini_api" TargetMode="External"/><Relationship Id="rId9" Type="http://schemas.openxmlformats.org/officeDocument/2006/relationships/hyperlink" Target="https://opensource.googleblog.com/2026/03/gemma-4-expanding-the-gemmaverse-with-apache-20.html" TargetMode="External"/><Relationship Id="rId10" Type="http://schemas.openxmlformats.org/officeDocument/2006/relationships/hyperlink" Target="https://docs.astral.sh/uv/concepts/resolution" TargetMode="External"/><Relationship Id="rId11" Type="http://schemas.openxmlformats.org/officeDocument/2006/relationships/hyperlink" Target="https://docs.pypi.org/api/json" TargetMode="External"/><Relationship Id="rId12" Type="http://schemas.openxmlformats.org/officeDocument/2006/relationships/hyperlink" Target="https://docs.python.org/3/library/importlib.metadata.html" TargetMode="External"/><Relationship Id="rId13" Type="http://schemas.openxmlformats.org/officeDocument/2006/relationships/hyperlink" Target="https://docs.pytest.org/en/stable/how-to/capture-warnings.html" TargetMode="External"/><Relationship Id="rId14" Type="http://schemas.openxmlformats.org/officeDocument/2006/relationships/hyperlink" Target="https://arxiv.org/abs/2310.06770" TargetMode="External"/><Relationship Id="rId15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6" y="2372"/>
            <a:ext cx="453571" cy="6573955"/>
            <a:chOff x="0" y="0"/>
            <a:chExt cx="604761" cy="87652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4774" cy="8765286"/>
            </a:xfrm>
            <a:custGeom>
              <a:avLst/>
              <a:gdLst/>
              <a:ahLst/>
              <a:cxnLst/>
              <a:rect r="r" b="b" t="t" l="l"/>
              <a:pathLst>
                <a:path h="8765286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765286"/>
                  </a:lnTo>
                  <a:lnTo>
                    <a:pt x="0" y="8765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5877" t="0" r="-8587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4047" y="0"/>
            <a:ext cx="167745" cy="5803392"/>
            <a:chOff x="0" y="0"/>
            <a:chExt cx="223660" cy="7737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3647" cy="7737856"/>
            </a:xfrm>
            <a:custGeom>
              <a:avLst/>
              <a:gdLst/>
              <a:ahLst/>
              <a:cxnLst/>
              <a:rect r="r" b="b" t="t" l="l"/>
              <a:pathLst>
                <a:path h="7737856" w="223647">
                  <a:moveTo>
                    <a:pt x="0" y="0"/>
                  </a:moveTo>
                  <a:lnTo>
                    <a:pt x="223647" y="0"/>
                  </a:lnTo>
                  <a:lnTo>
                    <a:pt x="223647" y="7737856"/>
                  </a:lnTo>
                  <a:lnTo>
                    <a:pt x="0" y="7737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23" t="0" r="-93929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21792" y="-450"/>
            <a:ext cx="1281868" cy="1281868"/>
            <a:chOff x="0" y="0"/>
            <a:chExt cx="1709158" cy="170915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107226" y="107226"/>
              <a:ext cx="1494706" cy="1494706"/>
              <a:chOff x="0" y="0"/>
              <a:chExt cx="812800" cy="812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76200" y="85725"/>
                <a:ext cx="660400" cy="6508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11"/>
                  </a:lnSpc>
                </a:pPr>
              </a:p>
            </p:txBody>
          </p:sp>
        </p:grp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9158" cy="1709158"/>
            </a:xfrm>
            <a:custGeom>
              <a:avLst/>
              <a:gdLst/>
              <a:ahLst/>
              <a:cxnLst/>
              <a:rect r="r" b="b" t="t" l="l"/>
              <a:pathLst>
                <a:path h="1709158" w="1709158">
                  <a:moveTo>
                    <a:pt x="0" y="0"/>
                  </a:moveTo>
                  <a:lnTo>
                    <a:pt x="1709158" y="0"/>
                  </a:lnTo>
                  <a:lnTo>
                    <a:pt x="1709158" y="1709158"/>
                  </a:lnTo>
                  <a:lnTo>
                    <a:pt x="0" y="1709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850606" y="0"/>
            <a:ext cx="2556277" cy="856736"/>
          </a:xfrm>
          <a:custGeom>
            <a:avLst/>
            <a:gdLst/>
            <a:ahLst/>
            <a:cxnLst/>
            <a:rect r="r" b="b" t="t" l="l"/>
            <a:pathLst>
              <a:path h="856736" w="2556277">
                <a:moveTo>
                  <a:pt x="0" y="0"/>
                </a:moveTo>
                <a:lnTo>
                  <a:pt x="2556277" y="0"/>
                </a:lnTo>
                <a:lnTo>
                  <a:pt x="2556277" y="856736"/>
                </a:lnTo>
                <a:lnTo>
                  <a:pt x="0" y="85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712160" y="505954"/>
            <a:ext cx="4833168" cy="1614203"/>
          </a:xfrm>
          <a:custGeom>
            <a:avLst/>
            <a:gdLst/>
            <a:ahLst/>
            <a:cxnLst/>
            <a:rect r="r" b="b" t="t" l="l"/>
            <a:pathLst>
              <a:path h="1614203" w="4833168">
                <a:moveTo>
                  <a:pt x="0" y="0"/>
                </a:moveTo>
                <a:lnTo>
                  <a:pt x="4833169" y="0"/>
                </a:lnTo>
                <a:lnTo>
                  <a:pt x="4833169" y="1614203"/>
                </a:lnTo>
                <a:lnTo>
                  <a:pt x="0" y="16142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02630" y="1706828"/>
            <a:ext cx="8107680" cy="1582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HACKDAY MUMBAI</a:t>
            </a:r>
          </a:p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x</a:t>
            </a:r>
          </a:p>
          <a:p>
            <a:pPr algn="ctr">
              <a:lnSpc>
                <a:spcPts val="4147"/>
              </a:lnSpc>
            </a:pPr>
            <a:r>
              <a:rPr lang="en-US" sz="3840" b="true">
                <a:solidFill>
                  <a:srgbClr val="C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ISTE KJSSE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05840" y="3456432"/>
            <a:ext cx="4160520" cy="292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Aft>
                <a:spcPts val="1000"/>
              </a:spcAft>
            </a:pPr>
            <a:r>
              <a:rPr sz="2000" b="1">
                <a:solidFill>
                  <a:srgbClr val="1F2328"/>
                </a:solidFill>
                <a:latin typeface="Times New Roman"/>
              </a:rPr>
              <a:t>Team Name: </a:t>
            </a:r>
            <a:r>
              <a:rPr sz="2000" b="0">
                <a:solidFill>
                  <a:srgbClr val="1F2328"/>
                </a:solidFill>
                <a:latin typeface="Times New Roman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328"/>
                </a:solidFill>
                <a:latin typeface="Times New Roman"/>
              </a:rPr>
              <a:t>Team Members: </a:t>
            </a:r>
            <a:r>
              <a:rPr sz="2000" b="0">
                <a:solidFill>
                  <a:srgbClr val="1F2328"/>
                </a:solidFill>
                <a:latin typeface="Times New Roman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328"/>
                </a:solidFill>
                <a:latin typeface="Times New Roman"/>
              </a:rPr>
              <a:t>College Name: </a:t>
            </a:r>
            <a:r>
              <a:rPr sz="2000" b="0">
                <a:solidFill>
                  <a:srgbClr val="1F2328"/>
                </a:solidFill>
                <a:latin typeface="Times New Roman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F2328"/>
                </a:solidFill>
                <a:latin typeface="Times New Roman"/>
              </a:rPr>
              <a:t>Track: </a:t>
            </a:r>
            <a:r>
              <a:rPr sz="2000" b="0">
                <a:solidFill>
                  <a:srgbClr val="1F2328"/>
                </a:solidFill>
                <a:latin typeface="Times New Roman"/>
              </a:rPr>
              <a:t>Track 2 – Maintenance Agent Skill</a:t>
            </a:r>
          </a:p>
        </p:txBody>
      </p:sp>
      <p:sp>
        <p:nvSpPr>
          <p:cNvPr id="31" name="Problem card"/>
          <p:cNvSpPr/>
          <p:nvPr/>
        </p:nvSpPr>
        <p:spPr>
          <a:xfrm>
            <a:off x="5440680" y="3456432"/>
            <a:ext cx="4041648" cy="292608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3584448"/>
            <a:ext cx="371246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930B0B"/>
                </a:solidFill>
                <a:latin typeface="Times New Roman"/>
              </a:rPr>
              <a:t>break-forecast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2" y="3913631"/>
            <a:ext cx="37124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1F2328"/>
                </a:solidFill>
                <a:latin typeface="Calibri"/>
              </a:rPr>
              <a:t>Problem: dependencies silently rot – pins stop installing, packages are abandoned, upgrades break code – and maintainers find out only when something fails.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2" y="4663440"/>
            <a:ext cx="3712463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4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Tests every dependency change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with real installs on Python 3.12 + 3.13</a:t>
            </a:r>
          </a:p>
          <a:p>
            <a:pPr algn="l" marL="146304" indent="-128016">
              <a:spcAft>
                <a:spcPts val="4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Repairs breakage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with open-weight Gemma 4 patches</a:t>
            </a:r>
          </a:p>
          <a:p>
            <a:pPr algn="l" marL="146304" indent="-128016">
              <a:spcAft>
                <a:spcPts val="4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Accepts a fix only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when tests + behaviour probes prove it</a:t>
            </a:r>
          </a:p>
          <a:p>
            <a:pPr algn="l" marL="146304" indent="-128016">
              <a:spcAft>
                <a:spcPts val="4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Target: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github.com/rishrek/LinkWatch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&amp; Workflow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896112" y="1005840"/>
            <a:ext cx="863193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F2328"/>
                </a:solidFill>
                <a:latin typeface="Calibri"/>
              </a:rPr>
              <a:t>One command – </a:t>
            </a:r>
            <a:r>
              <a:rPr sz="1200" b="1" i="0">
                <a:solidFill>
                  <a:srgbClr val="930B0B"/>
                </a:solidFill>
                <a:latin typeface="Consolas"/>
              </a:rPr>
              <a:t>bf run &lt;repo-url&gt;</a:t>
            </a:r>
            <a:r>
              <a:rPr sz="1200" b="0" i="0">
                <a:solidFill>
                  <a:srgbClr val="1F2328"/>
                </a:solidFill>
                <a:latin typeface="Calibri"/>
              </a:rPr>
              <a:t> – takes any Python repo through ten stages and writes a Dependency Exit Capsule.</a:t>
            </a:r>
          </a:p>
        </p:txBody>
      </p:sp>
      <p:sp>
        <p:nvSpPr>
          <p:cNvPr id="20" name="Stage 1"/>
          <p:cNvSpPr/>
          <p:nvPr/>
        </p:nvSpPr>
        <p:spPr>
          <a:xfrm>
            <a:off x="941832" y="1481328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E8EEFB"/>
          </a:solidFill>
          <a:ln w="9525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" y="155448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57C5"/>
                </a:solidFill>
                <a:latin typeface="Calibri"/>
              </a:rPr>
              <a:t>1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Inspect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" y="1865376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manifests · PyPI · AST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59736" y="1901952"/>
            <a:ext cx="21031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tage 2"/>
          <p:cNvSpPr/>
          <p:nvPr/>
        </p:nvSpPr>
        <p:spPr>
          <a:xfrm>
            <a:off x="2688336" y="1481328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E3F4EC"/>
          </a:solidFill>
          <a:ln w="9525">
            <a:solidFill>
              <a:srgbClr val="0D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1488" y="155448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D7A52"/>
                </a:solidFill>
                <a:latin typeface="Calibri"/>
              </a:rPr>
              <a:t>2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1865376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+ era reconstruction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206240" y="1901952"/>
            <a:ext cx="21031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tage 4"/>
          <p:cNvSpPr/>
          <p:nvPr/>
        </p:nvSpPr>
        <p:spPr>
          <a:xfrm>
            <a:off x="4434840" y="1481328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E8EEFB"/>
          </a:solidFill>
          <a:ln w="9525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155448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57C5"/>
                </a:solidFill>
                <a:latin typeface="Calibri"/>
              </a:rPr>
              <a:t>4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Plan cells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1865376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uv resolver co-upgrades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52743" y="1901952"/>
            <a:ext cx="210313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tage 3"/>
          <p:cNvSpPr/>
          <p:nvPr/>
        </p:nvSpPr>
        <p:spPr>
          <a:xfrm>
            <a:off x="6181344" y="1481328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F3EAFA"/>
          </a:solidFill>
          <a:ln w="9525">
            <a:solidFill>
              <a:srgbClr val="8A3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155448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8A3FC0"/>
                </a:solidFill>
                <a:latin typeface="Calibri"/>
              </a:rPr>
              <a:t>3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Blind forecast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1865376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locked before tests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99248" y="1901952"/>
            <a:ext cx="21031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tage 8"/>
          <p:cNvSpPr/>
          <p:nvPr/>
        </p:nvSpPr>
        <p:spPr>
          <a:xfrm>
            <a:off x="7927848" y="1481328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F3EAFA"/>
          </a:solidFill>
          <a:ln w="9525">
            <a:solidFill>
              <a:srgbClr val="8A3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1554480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8A3FC0"/>
                </a:solidFill>
                <a:latin typeface="Calibri"/>
              </a:rPr>
              <a:t>8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Probes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1865376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behaviour scripts</a:t>
            </a:r>
          </a:p>
        </p:txBody>
      </p:sp>
      <p:sp>
        <p:nvSpPr>
          <p:cNvPr id="39" name="Stage 5"/>
          <p:cNvSpPr/>
          <p:nvPr/>
        </p:nvSpPr>
        <p:spPr>
          <a:xfrm>
            <a:off x="7927848" y="2688336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E3F4EC"/>
          </a:solidFill>
          <a:ln w="9525">
            <a:solidFill>
              <a:srgbClr val="0D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2761488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D7A52"/>
                </a:solidFill>
                <a:latin typeface="Calibri"/>
              </a:rPr>
              <a:t>5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Matrix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3072384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3.12 + 3.13, normal + strict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699248" y="3108960"/>
            <a:ext cx="21031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tage 6"/>
          <p:cNvSpPr/>
          <p:nvPr/>
        </p:nvSpPr>
        <p:spPr>
          <a:xfrm>
            <a:off x="6181344" y="2688336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F3EAFA"/>
          </a:solidFill>
          <a:ln w="9525">
            <a:solidFill>
              <a:srgbClr val="8A3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54496" y="2761488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8A3FC0"/>
                </a:solidFill>
                <a:latin typeface="Calibri"/>
              </a:rPr>
              <a:t>6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Diagnose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3072384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root cause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5952744" y="3108960"/>
            <a:ext cx="21031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tage 7"/>
          <p:cNvSpPr/>
          <p:nvPr/>
        </p:nvSpPr>
        <p:spPr>
          <a:xfrm>
            <a:off x="4434840" y="2688336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F3EAFA"/>
          </a:solidFill>
          <a:ln w="9525">
            <a:solidFill>
              <a:srgbClr val="8A3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07992" y="2761488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8A3FC0"/>
                </a:solidFill>
                <a:latin typeface="Calibri"/>
              </a:rPr>
              <a:t>7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Patch + 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07992" y="3072384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11 rules, 3 tries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4206240" y="3108960"/>
            <a:ext cx="21031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tage 9"/>
          <p:cNvSpPr/>
          <p:nvPr/>
        </p:nvSpPr>
        <p:spPr>
          <a:xfrm>
            <a:off x="2688336" y="2688336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E3F4EC"/>
          </a:solidFill>
          <a:ln w="9525">
            <a:solidFill>
              <a:srgbClr val="0D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61488" y="2761488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0D7A52"/>
                </a:solidFill>
                <a:latin typeface="Calibri"/>
              </a:rPr>
              <a:t>9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Exit plan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61488" y="3072384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all changes together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2459736" y="3108960"/>
            <a:ext cx="21031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Stage 10"/>
          <p:cNvSpPr/>
          <p:nvPr/>
        </p:nvSpPr>
        <p:spPr>
          <a:xfrm>
            <a:off x="941832" y="2688336"/>
            <a:ext cx="1499616" cy="841248"/>
          </a:xfrm>
          <a:prstGeom prst="roundRect">
            <a:avLst>
              <a:gd name="adj" fmla="val 12000"/>
            </a:avLst>
          </a:prstGeom>
          <a:solidFill>
            <a:srgbClr val="E8EEFB"/>
          </a:solidFill>
          <a:ln w="9525">
            <a:solidFill>
              <a:srgbClr val="2457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4984" y="2761488"/>
            <a:ext cx="1353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457C5"/>
                </a:solidFill>
                <a:latin typeface="Calibri"/>
              </a:rPr>
              <a:t>10  </a:t>
            </a:r>
            <a:r>
              <a:rPr sz="1200" b="1" i="0">
                <a:solidFill>
                  <a:srgbClr val="1F2328"/>
                </a:solidFill>
                <a:latin typeface="Calibri"/>
              </a:rPr>
              <a:t>Capsule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4" y="3072384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JSON · HTML · MD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677656" y="2340864"/>
            <a:ext cx="0" cy="329184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41832" y="385876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F6368"/>
                </a:solidFill>
                <a:latin typeface="Calibri"/>
              </a:rPr>
              <a:t>Legend:  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81912" y="386791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2457C5"/>
                </a:solidFill>
                <a:latin typeface="Calibri"/>
              </a:rPr>
              <a:t>OBSERVED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359152" y="386791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0D7A52"/>
                </a:solidFill>
                <a:latin typeface="Calibri"/>
              </a:rPr>
              <a:t>EXECUTED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136392" y="3867912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F3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>
              <a:spcAft>
                <a:spcPts val="200"/>
              </a:spcAft>
            </a:pPr>
            <a:r>
              <a:rPr sz="800" b="1" i="0">
                <a:solidFill>
                  <a:srgbClr val="8A3FC0"/>
                </a:solidFill>
                <a:latin typeface="Calibri"/>
              </a:rPr>
              <a:t>AI-GENERATED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96512" y="385876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every field in the capsule carries one of these tags</a:t>
            </a:r>
          </a:p>
        </p:txBody>
      </p:sp>
      <p:sp>
        <p:nvSpPr>
          <p:cNvPr id="64" name="Column 1"/>
          <p:cNvSpPr/>
          <p:nvPr/>
        </p:nvSpPr>
        <p:spPr>
          <a:xfrm>
            <a:off x="896112" y="4224528"/>
            <a:ext cx="2785872" cy="221284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24128" y="4315968"/>
            <a:ext cx="252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30B0B"/>
                </a:solidFill>
                <a:latin typeface="Calibri"/>
              </a:rPr>
              <a:t>Key technologies &amp; data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" y="4663440"/>
            <a:ext cx="2529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uv: isolated envs, resolver, era-limited installs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pytest + JUnit XML per-test results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Python AST: imports, calls, private APIs, monkeypatches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PyPI JSON + GitHub REST APIs, release notes</a:t>
            </a:r>
          </a:p>
        </p:txBody>
      </p:sp>
      <p:sp>
        <p:nvSpPr>
          <p:cNvPr id="67" name="Column 2"/>
          <p:cNvSpPr/>
          <p:nvPr/>
        </p:nvSpPr>
        <p:spPr>
          <a:xfrm>
            <a:off x="3819143" y="4224528"/>
            <a:ext cx="2785872" cy="221284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47159" y="4315968"/>
            <a:ext cx="252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30B0B"/>
                </a:solidFill>
                <a:latin typeface="Calibri"/>
              </a:rPr>
              <a:t>AI integration (Gemma 4, open-weight)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47159" y="4663440"/>
            <a:ext cx="2529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Proposes replacements for frozen packages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Forecasts each change before it runs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Writes behaviour probes and diagnoses failures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Writes patches – only kept if the gate passes</a:t>
            </a:r>
          </a:p>
        </p:txBody>
      </p:sp>
      <p:sp>
        <p:nvSpPr>
          <p:cNvPr id="70" name="Column 3"/>
          <p:cNvSpPr/>
          <p:nvPr/>
        </p:nvSpPr>
        <p:spPr>
          <a:xfrm>
            <a:off x="6742176" y="4224528"/>
            <a:ext cx="2785872" cy="221284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70191" y="4315968"/>
            <a:ext cx="2529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930B0B"/>
                </a:solidFill>
                <a:latin typeface="Calibri"/>
              </a:rPr>
              <a:t>Verification &amp; outputs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70191" y="4663440"/>
            <a:ext cx="25298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Gate: tamper checks, no regressions, target fixed, strict run, probes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Exit plan: all patches + upgrades together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capsule.json / .html / .md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bf verify-capsule --rerun reproduces results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aphicFrame>
        <p:nvGraphicFramePr>
          <p:cNvPr id="19" name="Stack table"/>
          <p:cNvGraphicFramePr>
            <a:graphicFrameLocks noGrp="1"/>
          </p:cNvGraphicFramePr>
          <p:nvPr/>
        </p:nvGraphicFramePr>
        <p:xfrm>
          <a:off x="896112" y="1051560"/>
          <a:ext cx="41605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45720" marR="45720" marT="18288" marB="18288" anchor="ctr">
                    <a:solidFill>
                      <a:srgbClr val="93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Choice</a:t>
                      </a:r>
                    </a:p>
                  </a:txBody>
                  <a:tcPr marL="45720" marR="45720" marT="18288" marB="18288" anchor="ctr">
                    <a:solidFill>
                      <a:srgbClr val="930B0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Language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Python 3.11+ (targets 3.12 &amp; 3.13)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Environments</a:t>
                      </a:r>
                    </a:p>
                  </a:txBody>
                  <a:tcPr marL="45720" marR="45720" marT="18288" marB="18288" anchor="ctr">
                    <a:solidFill>
                      <a:srgbClr val="FA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uv venv / pip compile / --exclude-newer-package</a:t>
                      </a:r>
                    </a:p>
                  </a:txBody>
                  <a:tcPr marL="45720" marR="45720" marT="18288" marB="18288" anchor="ctr">
                    <a:solidFill>
                      <a:srgbClr val="FA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pytest, normal + -W error::DeprecationWarning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Models</a:t>
                      </a:r>
                    </a:p>
                  </a:txBody>
                  <a:tcPr marL="45720" marR="45720" marT="18288" marB="18288" anchor="ctr">
                    <a:solidFill>
                      <a:srgbClr val="FA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gemma-4-31b-it → gemma-4-26b-a4b-it (Gemini API) → gemma4:12b (Ollama)</a:t>
                      </a:r>
                    </a:p>
                  </a:txBody>
                  <a:tcPr marL="45720" marR="45720" marT="18288" marB="18288" anchor="ctr">
                    <a:solidFill>
                      <a:srgbClr val="FAF6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Agent Skill (SKILL.md) + CLI + JSON-schema capsule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Viewer</a:t>
                      </a:r>
                    </a:p>
                  </a:txBody>
                  <a:tcPr marL="45720" marR="45720" marT="18288" marB="18288" anchor="ctr">
                    <a:solidFill>
                      <a:srgbClr val="FA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1F2328"/>
                          </a:solidFill>
                          <a:latin typeface="Calibri"/>
                        </a:rPr>
                        <a:t>self-contained HTML, no network</a:t>
                      </a:r>
                    </a:p>
                  </a:txBody>
                  <a:tcPr marL="45720" marR="45720" marT="18288" marB="18288" anchor="ctr">
                    <a:solidFill>
                      <a:srgbClr val="FAF6F6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239512" y="1024128"/>
            <a:ext cx="42885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30B0B"/>
                </a:solidFill>
                <a:latin typeface="Calibri"/>
              </a:rPr>
              <a:t>Methodology – original algorithms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1353312"/>
            <a:ext cx="4288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328"/>
                </a:solidFill>
                <a:latin typeface="Calibri"/>
              </a:rPr>
              <a:t>Era reconstruction: </a:t>
            </a:r>
            <a:r>
              <a:rPr sz="1050" b="0" i="0">
                <a:solidFill>
                  <a:srgbClr val="1F2328"/>
                </a:solidFill>
                <a:latin typeface="Calibri"/>
              </a:rPr>
              <a:t>each transitive dep is capped at the release date of the pinned package that needs it (uv --exclude-newer-package)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1865376"/>
            <a:ext cx="4288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328"/>
                </a:solidFill>
                <a:latin typeface="Calibri"/>
              </a:rPr>
              <a:t>Resolver co-upgrades: </a:t>
            </a:r>
            <a:r>
              <a:rPr sz="1050" b="0" i="0">
                <a:solidFill>
                  <a:srgbClr val="1F2328"/>
                </a:solidFill>
                <a:latin typeface="Calibri"/>
              </a:rPr>
              <a:t>start fully locked; free the target's subtree → all transitives → pins the resolver names; record what moved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2377440"/>
            <a:ext cx="4288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328"/>
                </a:solidFill>
                <a:latin typeface="Calibri"/>
              </a:rPr>
              <a:t>Blind forecast: </a:t>
            </a:r>
            <a:r>
              <a:rPr sz="1050" b="0" i="0">
                <a:solidFill>
                  <a:srgbClr val="1F2328"/>
                </a:solidFill>
                <a:latin typeface="Calibri"/>
              </a:rPr>
              <a:t>prediction hashed + time-stamped before Stage 5; scored with a confusion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2889504"/>
            <a:ext cx="4288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328"/>
                </a:solidFill>
                <a:latin typeface="Calibri"/>
              </a:rPr>
              <a:t>Differential probes: </a:t>
            </a:r>
            <a:r>
              <a:rPr sz="1050" b="0" i="0">
                <a:solidFill>
                  <a:srgbClr val="1F2328"/>
                </a:solidFill>
                <a:latin typeface="Calibri"/>
              </a:rPr>
              <a:t>same script on old and new env; normalised JSON diff of the repo's own functions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3401568"/>
            <a:ext cx="42885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F2328"/>
                </a:solidFill>
                <a:latin typeface="Calibri"/>
              </a:rPr>
              <a:t>Evidence gate: </a:t>
            </a:r>
            <a:r>
              <a:rPr sz="1050" b="0" i="0">
                <a:solidFill>
                  <a:srgbClr val="1F2328"/>
                </a:solidFill>
                <a:latin typeface="Calibri"/>
              </a:rPr>
              <a:t>6 static + 5 executed rules on both Pythons; failures fed back for up to 3 attempts</a:t>
            </a:r>
          </a:p>
        </p:txBody>
      </p:sp>
      <p:sp>
        <p:nvSpPr>
          <p:cNvPr id="26" name="Testing card"/>
          <p:cNvSpPr/>
          <p:nvPr/>
        </p:nvSpPr>
        <p:spPr>
          <a:xfrm>
            <a:off x="896112" y="4069080"/>
            <a:ext cx="8631936" cy="23317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4160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30B0B"/>
                </a:solidFill>
                <a:latin typeface="Calibri"/>
              </a:rPr>
              <a:t>Implementation, testing &amp;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4526280"/>
            <a:ext cx="1997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930B0B"/>
                </a:solidFill>
                <a:latin typeface="Calibri"/>
              </a:rPr>
              <a:t>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5056632"/>
            <a:ext cx="19522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Python modules in src/break_forecast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2675" y="4526280"/>
            <a:ext cx="1997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930B0B"/>
                </a:solidFill>
                <a:latin typeface="Calibri"/>
              </a:rPr>
              <a:t>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2675" y="5056632"/>
            <a:ext cx="19522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unit tests, incl. every gate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79" y="4526280"/>
            <a:ext cx="1997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930B0B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9" y="5056632"/>
            <a:ext cx="19522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real repos: LinkWatch + a second fixture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01483" y="4526280"/>
            <a:ext cx="1997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930B0B"/>
                </a:solidFill>
                <a:latin typeface="Calibri"/>
              </a:rPr>
              <a:t>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01483" y="5056632"/>
            <a:ext cx="195224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5F6368"/>
                </a:solidFill>
                <a:latin typeface="Calibri"/>
              </a:rPr>
              <a:t>matrix jobs executed on LinkWatch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1" y="5532120"/>
            <a:ext cx="83576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4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Gate tests try to cheat on purpose (skip markers, warning filters, sys.modules stubs, broad except, test edits, quiet downgrades) and must be rejected</a:t>
            </a:r>
          </a:p>
          <a:p>
            <a:pPr algn="l" marL="146304" indent="-128016">
              <a:spcAft>
                <a:spcPts val="4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Every capsule is validated against its JSON schema; verify-capsule --rerun re-executes verified results – 12/12 reproduced on LinkWatch from the capsule alone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&amp; Viability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9" name="Quadrant 1"/>
          <p:cNvSpPr/>
          <p:nvPr/>
        </p:nvSpPr>
        <p:spPr>
          <a:xfrm>
            <a:off x="896112" y="1051560"/>
            <a:ext cx="4224528" cy="2633472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1161288"/>
            <a:ext cx="39502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930B0B"/>
                </a:solidFill>
                <a:latin typeface="Calibri"/>
              </a:rPr>
              <a:t>Technical feasibility &amp; 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1581912"/>
            <a:ext cx="3950208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Runs on a laptop: Windows 11 or Linux, uv, git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No GPU needed: free Gemma 4 API tier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Optional offline mode: local Ollama Gemma 4 12B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Python 3.12 / 3.13 provisioned automatically by uv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Every stage implemented, unit-tested and run on 2 repos</a:t>
            </a:r>
          </a:p>
        </p:txBody>
      </p:sp>
      <p:sp>
        <p:nvSpPr>
          <p:cNvPr id="22" name="Quadrant 2"/>
          <p:cNvSpPr/>
          <p:nvPr/>
        </p:nvSpPr>
        <p:spPr>
          <a:xfrm>
            <a:off x="5303520" y="1051560"/>
            <a:ext cx="4224528" cy="2633472"/>
          </a:xfrm>
          <a:prstGeom prst="roundRect">
            <a:avLst>
              <a:gd name="adj" fmla="val 6000"/>
            </a:avLst>
          </a:prstGeom>
          <a:solidFill>
            <a:srgbClr val="FDF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1161288"/>
            <a:ext cx="39502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9A6200"/>
                </a:solidFill>
                <a:latin typeface="Calibri"/>
              </a:rPr>
              <a:t>Challenges, limitations &amp; risks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1581912"/>
            <a:ext cx="3950208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Hosted model overloads (HTTP 500/503) → retries, 31B → 26B → local chain, answer cache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pytest-based repos only; probes avoid network code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AI patches can be wrong → never trusted without the gate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Forecast accuracy measured on few cells → confusion matrix, not one %</a:t>
            </a:r>
          </a:p>
        </p:txBody>
      </p:sp>
      <p:sp>
        <p:nvSpPr>
          <p:cNvPr id="25" name="Quadrant 3"/>
          <p:cNvSpPr/>
          <p:nvPr/>
        </p:nvSpPr>
        <p:spPr>
          <a:xfrm>
            <a:off x="896112" y="3813048"/>
            <a:ext cx="4224528" cy="2633472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" y="3922776"/>
            <a:ext cx="39502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930B0B"/>
                </a:solidFill>
                <a:latin typeface="Calibri"/>
              </a:rPr>
              <a:t>Scalability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343400"/>
            <a:ext cx="3950208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Every cell isolated → parallel workers (--workers N)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Resolver-guided groups instead of all pairs: O(n), not O(n²)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uv wheel cache makes each extra env take seconds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Cached PyPI/GitHub fetches and model answers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Same command runs in CI on a schedule</a:t>
            </a:r>
          </a:p>
        </p:txBody>
      </p:sp>
      <p:sp>
        <p:nvSpPr>
          <p:cNvPr id="28" name="Quadrant 4"/>
          <p:cNvSpPr/>
          <p:nvPr/>
        </p:nvSpPr>
        <p:spPr>
          <a:xfrm>
            <a:off x="5303520" y="3813048"/>
            <a:ext cx="4224528" cy="2633472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0680" y="3922776"/>
            <a:ext cx="39502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930B0B"/>
                </a:solidFill>
                <a:latin typeface="Calibri"/>
              </a:rPr>
              <a:t>Sustainability &amp; long-term viability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4343400"/>
            <a:ext cx="3950208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Apache-2.0; deps are MIT/Apache; model is Apache-2.0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Generic – no repo-specific logic; shown on a 2nd repo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Model swappable via env vars (any open-weight model)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Agent Skills standard → usable by many agent harnesses</a:t>
            </a:r>
          </a:p>
          <a:p>
            <a:pPr algn="l" marL="146304" indent="-128016">
              <a:spcAft>
                <a:spcPts val="700"/>
              </a:spcAft>
              <a:buChar char="•"/>
            </a:pPr>
            <a:r>
              <a:rPr sz="1250" b="0" i="0">
                <a:solidFill>
                  <a:srgbClr val="1F2328"/>
                </a:solidFill>
                <a:latin typeface="Calibri"/>
              </a:rPr>
              <a:t>Capsules are re-runnable artefacts for future upgrades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3254" y="293903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Impacts &amp; Benefits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9" name="Stat 1"/>
          <p:cNvSpPr/>
          <p:nvPr/>
        </p:nvSpPr>
        <p:spPr>
          <a:xfrm>
            <a:off x="896112" y="1051560"/>
            <a:ext cx="2055114" cy="120700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1097280"/>
            <a:ext cx="183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930B0B"/>
                </a:solidFill>
                <a:latin typeface="Calibri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1719072"/>
            <a:ext cx="183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dependencies inspected</a:t>
            </a:r>
          </a:p>
        </p:txBody>
      </p:sp>
      <p:sp>
        <p:nvSpPr>
          <p:cNvPr id="22" name="Stat 2"/>
          <p:cNvSpPr/>
          <p:nvPr/>
        </p:nvSpPr>
        <p:spPr>
          <a:xfrm>
            <a:off x="3088386" y="1051560"/>
            <a:ext cx="2055114" cy="120700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98114" y="1097280"/>
            <a:ext cx="183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930B0B"/>
                </a:solidFill>
                <a:latin typeface="Calibri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98114" y="1719072"/>
            <a:ext cx="183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test runs (12 changes × 2 Pythons)</a:t>
            </a:r>
          </a:p>
        </p:txBody>
      </p:sp>
      <p:sp>
        <p:nvSpPr>
          <p:cNvPr id="25" name="Stat 3"/>
          <p:cNvSpPr/>
          <p:nvPr/>
        </p:nvSpPr>
        <p:spPr>
          <a:xfrm>
            <a:off x="5280660" y="1051560"/>
            <a:ext cx="2055114" cy="120700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0388" y="1097280"/>
            <a:ext cx="183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930B0B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0388" y="1719072"/>
            <a:ext cx="183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AI patches that passed the gate</a:t>
            </a:r>
          </a:p>
        </p:txBody>
      </p:sp>
      <p:sp>
        <p:nvSpPr>
          <p:cNvPr id="28" name="Stat 4"/>
          <p:cNvSpPr/>
          <p:nvPr/>
        </p:nvSpPr>
        <p:spPr>
          <a:xfrm>
            <a:off x="7472933" y="1051560"/>
            <a:ext cx="2055114" cy="1207008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2661" y="1097280"/>
            <a:ext cx="183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930B0B"/>
                </a:solidFill>
                <a:latin typeface="Calibri"/>
              </a:rPr>
              <a:t>8/12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2661" y="1719072"/>
            <a:ext cx="183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F6368"/>
                </a:solidFill>
                <a:latin typeface="Calibri"/>
              </a:rPr>
              <a:t>forecasts correct before testing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245059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30B0B"/>
                </a:solidFill>
                <a:latin typeface="Calibri"/>
              </a:rPr>
              <a:t>Measured on LinkWatch (from the capsule)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2798064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6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Pins as written: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9/10 tests pass</a:t>
            </a:r>
            <a:r>
              <a:rPr sz="1100" b="1" i="0">
                <a:solidFill>
                  <a:srgbClr val="1F2328"/>
                </a:solidFill>
                <a:latin typeface="Calibri"/>
              </a:rPr>
              <a:t> → era-reconstructed baseline: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10/10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Found without hints: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3 frozen, 2 unused, 1 undeclared deps, a private-API import and a monkeypatch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Matrix: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12 pass · 4 warn · 8 break · 0 skipped</a:t>
            </a:r>
          </a:p>
          <a:p>
            <a:pPr algn="l" marL="146304" indent="-128016">
              <a:spcAft>
                <a:spcPts val="600"/>
              </a:spcAft>
              <a:buChar char="•"/>
            </a:pPr>
            <a:r>
              <a:rPr sz="1100" b="1" i="0">
                <a:solidFill>
                  <a:srgbClr val="1F2328"/>
                </a:solidFill>
                <a:latin typeface="Calibri"/>
              </a:rPr>
              <a:t>Silent changes caught: 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4 runs where tests passed but probes saw behaviour change</a:t>
            </a:r>
            <a:r>
              <a:rPr sz="1100" b="0" i="0">
                <a:solidFill>
                  <a:srgbClr val="1F2328"/>
                </a:solidFill>
                <a:latin typeface="Calibri"/>
              </a:rPr>
              <a:t> – e.g. `site_name_whitespace_only` (pydantic) was rejected before the upgrade and is accepted after it</a:t>
            </a:r>
          </a:p>
        </p:txBody>
      </p:sp>
      <p:sp>
        <p:nvSpPr>
          <p:cNvPr id="33" name="Users card"/>
          <p:cNvSpPr/>
          <p:nvPr/>
        </p:nvSpPr>
        <p:spPr>
          <a:xfrm>
            <a:off x="5971031" y="2450592"/>
            <a:ext cx="3557016" cy="201168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7" y="2542032"/>
            <a:ext cx="3300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30B0B"/>
                </a:solidFill>
                <a:latin typeface="Calibri"/>
              </a:rPr>
              <a:t>Target users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7" y="2871216"/>
            <a:ext cx="330098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Open-source maintainers with old pins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Teams moving to Python 3.12 / 3.13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AI agents that need a safe upgrade skill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00" b="0" i="0">
                <a:solidFill>
                  <a:srgbClr val="1F2328"/>
                </a:solidFill>
                <a:latin typeface="Calibri"/>
              </a:rPr>
              <a:t>Reviewers who want evidence, not claims</a:t>
            </a:r>
          </a:p>
        </p:txBody>
      </p:sp>
      <p:sp>
        <p:nvSpPr>
          <p:cNvPr id="36" name="Impact card"/>
          <p:cNvSpPr/>
          <p:nvPr/>
        </p:nvSpPr>
        <p:spPr>
          <a:xfrm>
            <a:off x="896112" y="4617720"/>
            <a:ext cx="8631936" cy="1828800"/>
          </a:xfrm>
          <a:prstGeom prst="roundRect">
            <a:avLst>
              <a:gd name="adj" fmla="val 6000"/>
            </a:avLst>
          </a:prstGeom>
          <a:solidFill>
            <a:srgbClr val="E3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" y="470915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0D7A52"/>
                </a:solidFill>
                <a:latin typeface="Calibri"/>
              </a:rPr>
              <a:t>Social &amp; economic impact · long-term benefits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5056631"/>
            <a:ext cx="835761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500"/>
              </a:spcAft>
              <a:buChar char="•"/>
            </a:pPr>
            <a:r>
              <a:rPr sz="1150" b="0" i="0">
                <a:solidFill>
                  <a:srgbClr val="1F2328"/>
                </a:solidFill>
                <a:latin typeface="Calibri"/>
              </a:rPr>
              <a:t>Less maintainer burnout: dependency chores become one command with a reviewable report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50" b="0" i="0">
                <a:solidFill>
                  <a:srgbClr val="1F2328"/>
                </a:solidFill>
                <a:latin typeface="Calibri"/>
              </a:rPr>
              <a:t>Fewer broken downstream users: changes are proven on both Pythons before release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50" b="0" i="0">
                <a:solidFill>
                  <a:srgbClr val="1F2328"/>
                </a:solidFill>
                <a:latin typeface="Calibri"/>
              </a:rPr>
              <a:t>Trustworthy AI help: every AI claim is separated from evidence and re-runnable by anyone</a:t>
            </a:r>
          </a:p>
          <a:p>
            <a:pPr algn="l" marL="146304" indent="-128016">
              <a:spcAft>
                <a:spcPts val="500"/>
              </a:spcAft>
              <a:buChar char="•"/>
            </a:pPr>
            <a:r>
              <a:rPr sz="1150" b="0" i="0">
                <a:solidFill>
                  <a:srgbClr val="1F2328"/>
                </a:solidFill>
                <a:latin typeface="Calibri"/>
              </a:rPr>
              <a:t>Reusable capsules turn one migration into a template for the next upgrade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55" y="6834759"/>
            <a:ext cx="1370152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8/12/2026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80986" y="6806384"/>
            <a:ext cx="458648" cy="307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1"/>
              </a:lnSpc>
            </a:pPr>
            <a:r>
              <a:rPr lang="en-US" sz="1493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‹#›</a:t>
            </a:r>
          </a:p>
        </p:txBody>
      </p:sp>
      <p:sp>
        <p:nvSpPr>
          <p:cNvPr name="AutoShape 4" id="4"/>
          <p:cNvSpPr/>
          <p:nvPr/>
        </p:nvSpPr>
        <p:spPr>
          <a:xfrm rot="1843020">
            <a:off x="9142438" y="6890023"/>
            <a:ext cx="572300" cy="0"/>
          </a:xfrm>
          <a:prstGeom prst="line">
            <a:avLst/>
          </a:prstGeom>
          <a:ln cap="rnd" w="9525">
            <a:solidFill>
              <a:srgbClr val="ED7D3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86" y="144475"/>
            <a:ext cx="453571" cy="6507690"/>
            <a:chOff x="0" y="0"/>
            <a:chExt cx="604761" cy="86769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4774" cy="8676894"/>
            </a:xfrm>
            <a:custGeom>
              <a:avLst/>
              <a:gdLst/>
              <a:ahLst/>
              <a:cxnLst/>
              <a:rect r="r" b="b" t="t" l="l"/>
              <a:pathLst>
                <a:path h="8676894" w="604774">
                  <a:moveTo>
                    <a:pt x="0" y="0"/>
                  </a:moveTo>
                  <a:lnTo>
                    <a:pt x="604774" y="0"/>
                  </a:lnTo>
                  <a:lnTo>
                    <a:pt x="604774" y="8676894"/>
                  </a:lnTo>
                  <a:lnTo>
                    <a:pt x="0" y="8676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4508" t="0" r="-8450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8229" y="144475"/>
            <a:ext cx="163563" cy="5658917"/>
            <a:chOff x="0" y="0"/>
            <a:chExt cx="218084" cy="75452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059" cy="7545197"/>
            </a:xfrm>
            <a:custGeom>
              <a:avLst/>
              <a:gdLst/>
              <a:ahLst/>
              <a:cxnLst/>
              <a:rect r="r" b="b" t="t" l="l"/>
              <a:pathLst>
                <a:path h="7545197" w="218059">
                  <a:moveTo>
                    <a:pt x="0" y="0"/>
                  </a:moveTo>
                  <a:lnTo>
                    <a:pt x="218059" y="0"/>
                  </a:lnTo>
                  <a:lnTo>
                    <a:pt x="218059" y="7545197"/>
                  </a:lnTo>
                  <a:lnTo>
                    <a:pt x="0" y="7545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937" t="0" r="-9394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876424" y="6446749"/>
            <a:ext cx="694944" cy="690648"/>
            <a:chOff x="0" y="0"/>
            <a:chExt cx="926592" cy="920864"/>
          </a:xfrm>
        </p:grpSpPr>
        <p:sp>
          <p:nvSpPr>
            <p:cNvPr name="Freeform 10" id="10" descr="A close up of a sign  Description automatically generated"/>
            <p:cNvSpPr/>
            <p:nvPr/>
          </p:nvSpPr>
          <p:spPr>
            <a:xfrm flipH="false" flipV="false" rot="0">
              <a:off x="0" y="0"/>
              <a:ext cx="926592" cy="920877"/>
            </a:xfrm>
            <a:custGeom>
              <a:avLst/>
              <a:gdLst/>
              <a:ahLst/>
              <a:cxnLst/>
              <a:rect r="r" b="b" t="t" l="l"/>
              <a:pathLst>
                <a:path h="920877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0877"/>
                  </a:lnTo>
                  <a:lnTo>
                    <a:pt x="0" y="92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" t="0" r="-9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5320132" y="3786969"/>
            <a:ext cx="411718" cy="6700866"/>
            <a:chOff x="0" y="0"/>
            <a:chExt cx="548958" cy="89344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894" cy="8934450"/>
            </a:xfrm>
            <a:custGeom>
              <a:avLst/>
              <a:gdLst/>
              <a:ahLst/>
              <a:cxnLst/>
              <a:rect r="r" b="b" t="t" l="l"/>
              <a:pathLst>
                <a:path h="8934450" w="548894">
                  <a:moveTo>
                    <a:pt x="0" y="0"/>
                  </a:moveTo>
                  <a:lnTo>
                    <a:pt x="548894" y="0"/>
                  </a:lnTo>
                  <a:lnTo>
                    <a:pt x="548894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593" t="0" r="-10260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5433241" y="3502876"/>
            <a:ext cx="185499" cy="6700866"/>
            <a:chOff x="0" y="0"/>
            <a:chExt cx="247333" cy="8934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7269" cy="8934450"/>
            </a:xfrm>
            <a:custGeom>
              <a:avLst/>
              <a:gdLst/>
              <a:ahLst/>
              <a:cxnLst/>
              <a:rect r="r" b="b" t="t" l="l"/>
              <a:pathLst>
                <a:path h="8934450" w="247269">
                  <a:moveTo>
                    <a:pt x="0" y="0"/>
                  </a:moveTo>
                  <a:lnTo>
                    <a:pt x="247269" y="0"/>
                  </a:lnTo>
                  <a:lnTo>
                    <a:pt x="247269" y="8934450"/>
                  </a:lnTo>
                  <a:lnTo>
                    <a:pt x="0" y="893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0297" t="0" r="-10032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4671" y="6729946"/>
            <a:ext cx="1948291" cy="542058"/>
            <a:chOff x="0" y="0"/>
            <a:chExt cx="2597722" cy="722744"/>
          </a:xfrm>
        </p:grpSpPr>
        <p:sp>
          <p:nvSpPr>
            <p:cNvPr name="Freeform 16" id="16" descr="C:\Users\admin\Downloads\university-png\Group 5@3x.png"/>
            <p:cNvSpPr/>
            <p:nvPr/>
          </p:nvSpPr>
          <p:spPr>
            <a:xfrm flipH="false" flipV="false" rot="0">
              <a:off x="0" y="0"/>
              <a:ext cx="2597658" cy="722757"/>
            </a:xfrm>
            <a:custGeom>
              <a:avLst/>
              <a:gdLst/>
              <a:ahLst/>
              <a:cxnLst/>
              <a:rect r="r" b="b" t="t" l="l"/>
              <a:pathLst>
                <a:path h="722757" w="2597658">
                  <a:moveTo>
                    <a:pt x="0" y="0"/>
                  </a:moveTo>
                  <a:lnTo>
                    <a:pt x="2597658" y="0"/>
                  </a:lnTo>
                  <a:lnTo>
                    <a:pt x="2597658" y="722757"/>
                  </a:lnTo>
                  <a:lnTo>
                    <a:pt x="0" y="722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632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8554" y="309369"/>
            <a:ext cx="7713526" cy="56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7"/>
              </a:lnSpc>
            </a:pPr>
            <a:r>
              <a:rPr lang="en-US" sz="3840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&amp; References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983309" y="23147"/>
            <a:ext cx="1770291" cy="965613"/>
          </a:xfrm>
          <a:custGeom>
            <a:avLst/>
            <a:gdLst/>
            <a:ahLst/>
            <a:cxnLst/>
            <a:rect r="r" b="b" t="t" l="l"/>
            <a:pathLst>
              <a:path h="965613" w="1770291">
                <a:moveTo>
                  <a:pt x="0" y="0"/>
                </a:moveTo>
                <a:lnTo>
                  <a:pt x="1770291" y="0"/>
                </a:lnTo>
                <a:lnTo>
                  <a:pt x="1770291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19" name="TextBox 18"/>
          <p:cNvSpPr txBox="1"/>
          <p:nvPr/>
        </p:nvSpPr>
        <p:spPr>
          <a:xfrm>
            <a:off x="896112" y="1024128"/>
            <a:ext cx="8631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30B0B"/>
                </a:solidFill>
                <a:latin typeface="Calibri"/>
              </a:rPr>
              <a:t>Specs &amp;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1353312"/>
            <a:ext cx="8631936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Agent Skills specification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7"/>
              </a:rPr>
              <a:t>agentskills.io/specification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Gemma 4 on the Gemini API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8"/>
              </a:rPr>
              <a:t>ai.google.dev/gemma/docs/core/gemma_on_gemini_api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Gemma 4 under Apache 2.0 (Google Open Source Blog)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9"/>
              </a:rPr>
              <a:t>opensource.googleblog.com/2026/03/gemma-4-expanding-the-gemmaverse-with-apache-20.html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uv resolution: exclude-newer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10"/>
              </a:rPr>
              <a:t>docs.astral.sh/uv/concepts/resolution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PyPI JSON API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11"/>
              </a:rPr>
              <a:t>docs.pypi.org/api/json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importlib.metadata.packages_distributions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12"/>
              </a:rPr>
              <a:t>docs.python.org/3/library/importlib.metadata.html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pytest warnings &amp; -W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13"/>
              </a:rPr>
              <a:t>docs.pytest.org/en/stable/how-to/capture-warnings.html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113532"/>
            <a:ext cx="8631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30B0B"/>
                </a:solidFill>
                <a:latin typeface="Calibri"/>
              </a:rPr>
              <a:t>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442716"/>
            <a:ext cx="8631936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Jimenez et al., SWE-bench: Can Language Models Resolve Real-World GitHub Issues?, ICLR 2024</a:t>
            </a:r>
            <a:r>
              <a:rPr sz="1050" b="0" i="0">
                <a:solidFill>
                  <a:srgbClr val="5F6368"/>
                </a:solidFill>
                <a:latin typeface="Calibri"/>
              </a:rPr>
              <a:t> – </a:t>
            </a:r>
            <a:r>
              <a:rPr sz="1000" b="0" i="0">
                <a:solidFill>
                  <a:srgbClr val="2457C5"/>
                </a:solidFill>
                <a:latin typeface="Calibri"/>
                <a:hlinkClick r:id="rId14"/>
              </a:rPr>
              <a:t>arxiv.org/abs/2310.06770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McKeeman, Differential Testing for Software, Digital Technical Journal, 1998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Feathers, Working Effectively with Legacy Code (characterization tests), 2004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Ochoa et al., Breaking bad? Semantic versioning and impact of breaking changes in Maven Central, EMSE 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558284"/>
            <a:ext cx="8631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30B0B"/>
                </a:solidFill>
                <a:latin typeface="Calibri"/>
              </a:rPr>
              <a:t>Existing tools – and the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7468"/>
            <a:ext cx="8631936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Dependabot / Renovate: open upgrade PRs, rely on your CI – no repair, no evidence capsule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deptry: finds unused/missing deps – no execution or migration</a:t>
            </a:r>
          </a:p>
          <a:p>
            <a:pPr algn="l" marL="146304" indent="-128016">
              <a:spcAft>
                <a:spcPts val="300"/>
              </a:spcAft>
              <a:buChar char="•"/>
            </a:pPr>
            <a:r>
              <a:rPr sz="1050" b="0" i="0">
                <a:solidFill>
                  <a:srgbClr val="1F2328"/>
                </a:solidFill>
                <a:latin typeface="Calibri"/>
              </a:rPr>
              <a:t>break-forecast adds: era reconstruction, gated AI repair, probes, re-runnable capsule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6199632"/>
            <a:ext cx="8631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F6368"/>
                </a:solidFill>
                <a:latin typeface="Calibri"/>
              </a:rPr>
              <a:t>Source code, capsule and README: </a:t>
            </a:r>
            <a:r>
              <a:rPr sz="1000" b="0" i="0">
                <a:solidFill>
                  <a:srgbClr val="5F6368"/>
                </a:solidFill>
                <a:latin typeface="Calibri"/>
              </a:rPr>
              <a:t>Apache-2.0 – see repository break-forecast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DAHX9QlV6y0</dc:identifier>
  <dcterms:modified xsi:type="dcterms:W3CDTF">2011-08-01T06:04:30Z</dcterms:modified>
  <cp:revision>1</cp:revision>
  <dc:title>Abhiyantriki- Hacktoberfest  Submission </dc:title>
</cp:coreProperties>
</file>